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 (2 min)</a:t>
            </a:r>
          </a:p>
          <a:p>
            <a:r>
              <a:t>- Welcome, introduce the group and project</a:t>
            </a:r>
          </a:p>
          <a:p>
            <a:r>
              <a:t>- Frame the narrative: "This is the story of how we went from a textbook approach scoring 85% to an adaptive system achieving 99% optimality"</a:t>
            </a:r>
          </a:p>
          <a:p>
            <a:r>
              <a:t>- Mention the project started Week 7 (16 March 2026), with weekly support sessions</a:t>
            </a:r>
          </a:p>
          <a:p>
            <a:r>
              <a:t>- Transition: "Let me hand over to [Member 2] to explain the game setup."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 (2 min)</a:t>
            </a:r>
          </a:p>
          <a:p>
            <a:r>
              <a:t>- Explain the Stackelberg game: leader commits first, follower responds</a:t>
            </a:r>
          </a:p>
          <a:p>
            <a:r>
              <a:t>- Emphasise: we don't know the follower's payoff or reaction function</a:t>
            </a:r>
          </a:p>
          <a:p>
            <a:r>
              <a:t>- Point to the table: 3 visible + 3 hidden followers</a:t>
            </a:r>
          </a:p>
          <a:p>
            <a:r>
              <a:t>- Key message: "This is a learning problem under imperfect information"</a:t>
            </a:r>
          </a:p>
          <a:p>
            <a:r>
              <a:t>- Reference L1 and L4 explicitly when describing the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 (2 min)</a:t>
            </a:r>
          </a:p>
          <a:p>
            <a:r>
              <a:t>- Walk through the comparison table: NaiveLeader vs AdaptiveLeader</a:t>
            </a:r>
          </a:p>
          <a:p>
            <a:r>
              <a:t>- Emphasise the 0.18-range insight: "Imagine fitting a line through 100 points clustered in a tiny range, then predicting a value 10x beyond"</a:t>
            </a:r>
          </a:p>
          <a:p>
            <a:r>
              <a:t>- The visual box shows the scale of extrapolation</a:t>
            </a:r>
          </a:p>
          <a:p>
            <a:r>
              <a:t>- "This is why exploration is essential -- and it's the main contribution of our project"</a:t>
            </a:r>
          </a:p>
          <a:p>
            <a:r>
              <a:t>- Transition to course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 (2 min)</a:t>
            </a:r>
          </a:p>
          <a:p>
            <a:r>
              <a:t>- Walk through the theoretical pipeline: L1 -&gt; L3 -&gt; L4 -&gt; L5 -&gt; L6</a:t>
            </a:r>
          </a:p>
          <a:p>
            <a:r>
              <a:t>- Show the optimal price formula derivation on the right</a:t>
            </a:r>
          </a:p>
          <a:p>
            <a:r>
              <a:t>- Point to the code: "This is the direct implementation of the L4 Slide 23 two-step method"</a:t>
            </a:r>
          </a:p>
          <a:p>
            <a:r>
              <a:t>- Key message: "The course gave us every tool we needed -- OLS, RLS, metrics, Stackelberg theory"</a:t>
            </a:r>
          </a:p>
          <a:p>
            <a:r>
              <a:t>- Transition: "But there's a critical gap the theory doesn't address..."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 (2 min)</a:t>
            </a:r>
          </a:p>
          <a:p>
            <a:r>
              <a:t>- This is the KEY SLIDE -- the main original contribution</a:t>
            </a:r>
          </a:p>
          <a:p>
            <a:r>
              <a:t>- "Historical data only covers a 0.18-unit range, but we need to price at 20"</a:t>
            </a:r>
          </a:p>
          <a:p>
            <a:r>
              <a:t>- Walk through the probe comparison table: 5 -&gt; 10 -&gt; 12</a:t>
            </a:r>
          </a:p>
          <a:p>
            <a:r>
              <a:t>- Connect to dual control theory: "Feldbaum showed that optimal controllers probe AND control simultaneously"</a:t>
            </a:r>
          </a:p>
          <a:p>
            <a:r>
              <a:t>- "Our Day 101 probe costs ~500 profit but gains ~4000 over 29 remaining days"</a:t>
            </a:r>
          </a:p>
          <a:p>
            <a:r>
              <a:t>- Decision point: "We had to choose how aggressively to probe -- too low loses information, too high risks negative demand"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 (1.5 min)</a:t>
            </a:r>
          </a:p>
          <a:p>
            <a:r>
              <a:t>- Walk through the 3-phase pipeline: historical -&gt; explore -&gt; exploit</a:t>
            </a:r>
          </a:p>
          <a:p>
            <a:r>
              <a:t>- Point to code: "This is the complete decision logic in 13 lines"</a:t>
            </a:r>
          </a:p>
          <a:p>
            <a:r>
              <a:t>- Emphasise the hybrid OLS+RLS approach</a:t>
            </a:r>
          </a:p>
          <a:p>
            <a:r>
              <a:t>- "Day 101: we send price 12, observe the follower's response, and immediately know the true slope"</a:t>
            </a:r>
          </a:p>
          <a:p>
            <a:r>
              <a:t>- "By Day 103, we're within 0.5% of optimal"</a:t>
            </a:r>
          </a:p>
          <a:p>
            <a:r>
              <a:t>- Introduced in v2, refined through v4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4 (1.5 min)</a:t>
            </a:r>
          </a:p>
          <a:p>
            <a:r>
              <a:t>- "Some followers change behaviour over time -- we detect this automatically"</a:t>
            </a:r>
          </a:p>
          <a:p>
            <a:r>
              <a:t>- Explain the correlation test: threshold 0.7</a:t>
            </a:r>
          </a:p>
          <a:p>
            <a:r>
              <a:t>- Show the results table: +2.3% improvement on MK2, no harm to stationary followers</a:t>
            </a:r>
          </a:p>
          <a:p>
            <a:r>
              <a:t>- "This was introduced in v3 -- it didn't improve the average score but was essential for MK2"</a:t>
            </a:r>
          </a:p>
          <a:p>
            <a:r>
              <a:t>- Connect to L4: "The course suggests trying different model structures if linear is poor"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4 (1.5 min)</a:t>
            </a:r>
          </a:p>
          <a:p>
            <a:r>
              <a:t>- Walk through WHY we use a hybrid: pure OLS is too slow, pure RLS drifts</a:t>
            </a:r>
          </a:p>
          <a:p>
            <a:r>
              <a:t>- Point to the RLS code: "This is the exact L6 Slide 12 formula in Python"</a:t>
            </a:r>
          </a:p>
          <a:p>
            <a:r>
              <a:t>- Show the forgetting factor tuning: lambda=0.97 beat 0.95 and 0.99</a:t>
            </a:r>
          </a:p>
          <a:p>
            <a:r>
              <a:t>- L6 Slide 9: weighted least squares with forgetting factor -- our lambda=0.97</a:t>
            </a:r>
          </a:p>
          <a:p>
            <a:r>
              <a:t>- "The key decision was refit frequency: every 3 days was the sweet spot"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 (2 min)</a:t>
            </a:r>
          </a:p>
          <a:p>
            <a:r>
              <a:t>- "Being honest about failures is as important as showing successes"</a:t>
            </a:r>
          </a:p>
          <a:p>
            <a:r>
              <a:t>- Walk through each row of the table: what we tried, what happened, what we learned</a:t>
            </a:r>
          </a:p>
          <a:p>
            <a:r>
              <a:t>- Lambda=0.99: "We thought retaining more history would help, but it prevented adapting to the probe"</a:t>
            </a:r>
          </a:p>
          <a:p>
            <a:r>
              <a:t>- Thompson Sampling: "Identical performance -- the E-E tradeoff is trivial with a one-shot probe"</a:t>
            </a:r>
          </a:p>
          <a:p>
            <a:r>
              <a:t>- "We spent 3 days implementing Thompson Sampling before realising deterministic was sufficient"</a:t>
            </a:r>
          </a:p>
          <a:p>
            <a:r>
              <a:t>- Key message: "Every failed experiment taught us something that shaped the final design"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 (1.5 min)</a:t>
            </a:r>
          </a:p>
          <a:p>
            <a:r>
              <a:t>- "We didn't just test against MK1-3 -- we built 18 adversarial scenarios"</a:t>
            </a:r>
          </a:p>
          <a:p>
            <a:r>
              <a:t>- Walk through the stress test table categories</a:t>
            </a:r>
          </a:p>
          <a:p>
            <a:r>
              <a:t>- Emphasise the steep slope fix: "This edge case would have failed in production"</a:t>
            </a:r>
          </a:p>
          <a:p>
            <a:r>
              <a:t>- MK4/5/6: "Our algorithm generalises because it learns from scratch -- no hard-coded assumptions"</a:t>
            </a:r>
          </a:p>
          <a:p>
            <a:r>
              <a:t>- BoundedAdaptiveLeader: "Same algorithm, one parameter change: UPPER_BOUND=15"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 (1.5 min)</a:t>
            </a:r>
          </a:p>
          <a:p>
            <a:r>
              <a:t>- Walk through the version table chronologically -- this is the story of the project</a:t>
            </a:r>
          </a:p>
          <a:p>
            <a:r>
              <a:t>- Highlight the biggest jump: v1-&gt;v2 (+1.1%) from better probe location</a:t>
            </a:r>
          </a:p>
          <a:p>
            <a:r>
              <a:t>- Note that some versions show +0.0% on average but are important for specific followers or robustness</a:t>
            </a:r>
          </a:p>
          <a:p>
            <a:r>
              <a:t>- Ablation study: "The single biggest factor is exploration: +14.2%"</a:t>
            </a:r>
          </a:p>
          <a:p>
            <a:r>
              <a:t>- "124 lines is not a limitation -- it's a design goal. Every line earns its place."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4 (1.5 min)</a:t>
            </a:r>
          </a:p>
          <a:p>
            <a:r>
              <a:t>- Present the main results table: "99.5% in TEST mode, 99.0% across 20 MARK mode runs"</a:t>
            </a:r>
          </a:p>
          <a:p>
            <a:r>
              <a:t>- Walk through per-follower results</a:t>
            </a:r>
          </a:p>
          <a:p>
            <a:r>
              <a:t>- Model quality metrics: "R-squared above 0.99 for all followers"</a:t>
            </a:r>
          </a:p>
          <a:p>
            <a:r>
              <a:t>- NaiveLeader comparison: "+14.2% average improvement"</a:t>
            </a:r>
          </a:p>
          <a:p>
            <a:r>
              <a:t>- "124 lines, numpy only -- this runs on free Google Colab in under 10 minutes"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3 (1.5 min)</a:t>
            </a:r>
          </a:p>
          <a:p>
            <a:r>
              <a:t>- Walk through each paper and explain HOW it connects to our approach</a:t>
            </a:r>
          </a:p>
          <a:p>
            <a:r>
              <a:t>- Feldbaum: dual control = our Day 101 probe</a:t>
            </a:r>
          </a:p>
          <a:p>
            <a:r>
              <a:t>- Bar-Shalom: certainty equivalence = treating Day 102+ estimates as ground truth</a:t>
            </a:r>
          </a:p>
          <a:p>
            <a:r>
              <a:t>- Letchford: validates that OLS is sufficient for learning Stackelberg reactions</a:t>
            </a:r>
          </a:p>
          <a:p>
            <a:r>
              <a:t>- Balcan: online commitment framework aligns with our hybrid approach</a:t>
            </a:r>
          </a:p>
          <a:p>
            <a:r>
              <a:t>- Thompson: we tested it empirically -- identical results, chose simpler approach</a:t>
            </a:r>
          </a:p>
          <a:p>
            <a:r>
              <a:t>- Course material integration: point to exact slide numbers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2 (1.5 min)</a:t>
            </a:r>
          </a:p>
          <a:p>
            <a:r>
              <a:t>- Three columns, each member takes one</a:t>
            </a:r>
          </a:p>
          <a:p>
            <a:r>
              <a:t>- Exploration &gt; Exploitation: "One probe day = +14.2%"</a:t>
            </a:r>
          </a:p>
          <a:p>
            <a:r>
              <a:t>- Simplicity Wins: "124 lines beat complex approaches"</a:t>
            </a:r>
          </a:p>
          <a:p>
            <a:r>
              <a:t>- Connect Theory to Practice: "The gap is in the DATA, not the math"</a:t>
            </a:r>
          </a:p>
          <a:p>
            <a:r>
              <a:t>- Key takeaway: "The 0.18-range insight is the single most important finding of this project"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Member 1 (1 min + Q&amp;A)</a:t>
            </a:r>
          </a:p>
          <a:p>
            <a:r>
              <a:t>- Summarise: "We built an adaptive leader achieving 99% optimality using course theory + exploration"</a:t>
            </a:r>
          </a:p>
          <a:p>
            <a:r>
              <a:t>- Emphasise the key innovation: "One-day cautious probing to escape the 0.18-range trap"</a:t>
            </a:r>
          </a:p>
          <a:p>
            <a:r>
              <a:t>- End with: "The gap between textbook theory and optimal practice is not in the math -- it's in the data."</a:t>
            </a:r>
          </a:p>
          <a:p>
            <a:r>
              <a:t>- Open for questions -- ALL members should answer questions in their area:</a:t>
            </a:r>
          </a:p>
          <a:p>
            <a:r>
              <a:t>  - Member 1: overall design, exploration strategy, failures</a:t>
            </a:r>
          </a:p>
          <a:p>
            <a:r>
              <a:t>  - Member 2: game setup, robustness, stress testing</a:t>
            </a:r>
          </a:p>
          <a:p>
            <a:r>
              <a:t>  - Member 3: course theory integration, literature, ablation</a:t>
            </a:r>
          </a:p>
          <a:p>
            <a:r>
              <a:t>  - Member 4: time trends, RLS hybrid, implementation details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E5CC"/>
                </a:solidFill>
                <a:latin typeface="Calibri"/>
              </a:defRPr>
            </a:pPr>
            <a:r>
              <a:t>COMP34612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Computational Game Theory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5FCD"/>
                </a:solidFill>
                <a:latin typeface="Calibri"/>
              </a:defRPr>
            </a:pPr>
            <a:r>
              <a:t>Adaptive Stackelberg Pricing: From Textbook OLS to 99% Optimality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926080"/>
            <a:ext cx="2743200" cy="164592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3600">
                <a:solidFill>
                  <a:srgbClr val="00E5CC"/>
                </a:solidFill>
                <a:latin typeface="Calibri"/>
              </a:defRPr>
            </a:pPr>
            <a:r>
              <a:t>GROUP</a:t>
            </a:r>
            <a:br/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Story of Exploration, Adaptation, and Evidence-Based Iteration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Week 11  |  Semester 2  |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Problem Overview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Stackelberg Pricing Game Under Imperfect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GAME STRUCTURE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Leader sets price u_L, follower responds with u_F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100 days historical data (t = 1...100)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30 days live gameplay (t = 101...130)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Follower reaction function is UNKNOWN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Parameters may change over time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0E5CC"/>
                </a:solidFill>
                <a:latin typeface="Calibri"/>
              </a:defRPr>
            </a:pPr>
            <a:r>
              <a:t>WHAT WE KNOW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Demand: S_L(u_L, u_F) = 100 - 5u_L + 3u_F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Profit: (u_L - 1) * S_L     [unit cost c_L = 1]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Objective: maximise 30-day accumulated profit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E05FCD"/>
                </a:solidFill>
                <a:latin typeface="Calibri"/>
              </a:defRPr>
            </a:pPr>
            <a:r>
              <a:t>WHAT WE DON'T KNOW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Follower's payoff function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Follower's strategy space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Whether parameters are stationary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Follower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Strategy Space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Hidden Variant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[1, +inf)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MK4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[1, +inf)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MK5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[1, 15]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MK6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3474720"/>
            <a:ext cx="5303520" cy="164592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E05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  <a:br/>
            <a:br/>
            <a:r>
              <a:t>Learn the follower's reaction function</a:t>
            </a:r>
            <a:br/>
            <a:r>
              <a:t>from data, then compute the Stackelberg-optimal</a:t>
            </a:r>
            <a:br/>
            <a:r>
              <a:t>price  --  all while playing the game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486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L1 Slides 3-5: Stackelberg framework  |  L4 Slides 3-5: Imperfect information</a:t>
            </a:r>
            <a:br/>
            <a:r>
              <a:t>L7 Slides 6-8: Best reaction functions &amp; equilibrium derivation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The Naive Approach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Why Textbook OLS Alone Scores 85.3%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TEXTBOOK TWO-STEP METHOD (Lecture 4)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Step 1: Fit u_F = a + b*u_L via OLS on historical data (L4 Slide 23)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Step 2: Substitute into profit, solve for optimal u_L (L4 Slide 22)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Step 3: Play u_L* for all 30 days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5555"/>
                </a:solidFill>
                <a:latin typeface="Calibri"/>
              </a:defRPr>
            </a:pPr>
            <a:r>
              <a:t>Result: 85.3% average optimality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5FCD"/>
                </a:solidFill>
                <a:latin typeface="Calibri"/>
              </a:defRPr>
            </a:pPr>
            <a:r>
              <a:t>THE EXTRAPOLATION TRAP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Historical leader prices: u_L in [1.72, 1.90]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D700"/>
                </a:solidFill>
                <a:latin typeface="Calibri"/>
              </a:defRPr>
            </a:pPr>
            <a:r>
              <a:t>Range width: only 0.18 units!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True optimal for MK1/MK2: u_L ~ 20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True optimal for MK3: u_L ~ 11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OLS slope estimated from 0.18-wide range...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FF5555"/>
                </a:solidFill>
                <a:latin typeface="Calibri"/>
              </a:defRPr>
            </a:pPr>
            <a:r>
              <a:t>...then extrapolated 10x beyond training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5555"/>
                </a:solidFill>
                <a:latin typeface="Calibri"/>
              </a:defRPr>
            </a:pPr>
            <a:r>
              <a:t>Small slope error = massive price error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716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Leader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NaiveLeader</a:t>
                      </a:r>
                    </a:p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(textbook OLS)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81.1%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AdaptiveLeader</a:t>
                      </a:r>
                    </a:p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(ours)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3474720"/>
            <a:ext cx="5303520" cy="292608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OUR FIRST EXPERIMENT</a:t>
            </a:r>
            <a:br/>
            <a:br/>
            <a:r>
              <a:t>We implemented textbook OLS (L4 Slide 23) and ran it.</a:t>
            </a:r>
            <a:br/>
            <a:r>
              <a:t>Historical OLS gave: beta_hat = 0.42, alpha_hat = 7.1</a:t>
            </a:r>
            <a:br/>
            <a:r>
              <a:t>Predicted optimal: u_L* = 21.3</a:t>
            </a:r>
            <a:br/>
            <a:r>
              <a:t>Actual profit: only 81.1% on MK1 (lost ~5,500)</a:t>
            </a:r>
            <a:br/>
            <a:br/>
            <a:r>
              <a:t>WHY? The OLS was fit on u_L in [1.72, 1.90].</a:t>
            </a:r>
            <a:br/>
            <a:r>
              <a:t>beta_hat = 0.42 was wrong -- true beta ~ 0.30.</a:t>
            </a:r>
            <a:br/>
            <a:r>
              <a:t>A 0.12 slope error at u_L=20 means a 2.4 price error.</a:t>
            </a:r>
            <a:br/>
            <a:br/>
            <a:r>
              <a:t>This single experiment defined our entire project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Course Theory Foundation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Building on Lectures 1, 3, 4, 5, 6,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OUR THEORETICAL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L1 &amp; L7: Stackelberg Framework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L1 Slide 3-5: Two-step optimisation: learn R(u_L), then max profit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L7 Slide 6-8: Existence of Stackelberg equilibrium guaranteed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L3: Linear Reaction Function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L3 Slide 12: u_F = alpha + beta*u_L justified by linear demand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L4: OLS for Imperfect Information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L4 Slide 14-20: Learn R_hat(u_L) via least squares regression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L4 Slide 22-23: Two-step approximate Stackelberg strategy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L5: Model Evaluation Metrics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L5 Slide 4-8: RMSE, MAPE, R-squared to assess fit quality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L6: RLS with Forgetting Factor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L6 Slide 9: Weighted LS with forgetting factor lambda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L6 Slide 12: Recursive LS update formula (our implementation)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STACKELBERG OPTIMAL PRICE DERIVATION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Given: u_F = alpha + beta * u_L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Profit = (u_L - 1)(100 - 5u_L + 3(alpha + beta*u_L))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dProfit/du_L = 0  =&gt;  u_L* = (105 + 3a - 3b) / (10 - 6b)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0"/>
            <a:ext cx="5303520" cy="2743200"/>
          </a:xfrm>
          <a:prstGeom prst="round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def _optimal_price(self, date=115):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a = self.alpha + self.gamma * 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b = self.beta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denom = 10 - 6 * 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if denom &gt; 0.1: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uL = (105 + 3*a - 3*b) / denom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# steep slope: ramp up gradually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uL = prev_uL * 1.5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return max(1.01, min(uL, self.UPPER_BOUND))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leaders.py:69-83  |  Direct implementation of Lecture 4 &amp; 7 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The Exploration Problem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Why You Can't Just Exploit From Day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THE CORE DILEMMA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OLS fitted on u_L in [1.72, 1.90] gives a slope estimate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But the optimal price is u_L ~ 20 (MK1/MK2) or ~11 (MK3)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Plugging a wrong slope into the formula gives wrong u_L*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EXPLORATION-EXPLOITATION TRADE-OFF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Explore: sacrifice 1 day of profit to learn the true slope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Exploit: use learned slope for remaining 29 days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Key question: WHERE to probe?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E5CC"/>
                </a:solidFill>
                <a:latin typeface="Calibri"/>
              </a:defRPr>
            </a:pPr>
            <a:r>
              <a:t>OUR ITERATIVE DISCOVERY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v1: "Let's probe at 5" -- safe, conservative. Got 98.2%.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We asked: why not higher? Ran v2 with probe at 10: 99.3%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Pushed to 12 (v4) -- still within MK3's [1,15] bound: 99.5%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Each experiment took 1 hour, tested all 3 followers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Probe Price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u_L = 5 (v1)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97.8%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u_L = 10 (v2)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u_L = 12 (v4)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3474720"/>
            <a:ext cx="5303520" cy="256032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EXPLORATION COST-BENEFIT ANALYSIS</a:t>
            </a:r>
            <a:br/>
            <a:br/>
            <a:r>
              <a:t>Probe day cost: ~500 profit lost vs exploitation</a:t>
            </a:r>
            <a:br/>
            <a:r>
              <a:t>Information gained: true slope (beta) with 10x range</a:t>
            </a:r>
            <a:br/>
            <a:r>
              <a:t>Remaining exploitation: 29 days at near-optimal price</a:t>
            </a:r>
            <a:br/>
            <a:r>
              <a:t>Net gain: ~4,000 profit over naive OLS approach</a:t>
            </a:r>
            <a:br/>
            <a:br/>
            <a:r>
              <a:t>Feldbaum (1965): "A good controller must</a:t>
            </a:r>
            <a:br/>
            <a:r>
              <a:t>simultaneously control AND probe the system."</a:t>
            </a:r>
            <a:br/>
            <a:r>
              <a:t>Our probe embodies this dual control principle.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Ref: Feldbaum, "Dual Control Theory" (1960s)</a:t>
            </a:r>
            <a:br/>
            <a:r>
              <a:t>Ref: Bar-Shalom &amp; Tse, "Dual Effect" (1974)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Our Innovation: Adaptive Exploration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Probe, Learn, Converge in 2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DECISION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1. HISTORICAL PHASE (Days 1-100)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Load 100 days of [u_L, u_F]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MAD-based outlier filtering (10x threshold)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Detect time trends (correlation &gt; 0.7)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Fit OLS: u_F = alpha + beta*u_L [+ gamma*t]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2. EXPLORATION (Day 101)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Probe at u_L = 12 (or 15 for bounded followers)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Single observation far outside historical range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3. EXPLOITATION (Days 102-130)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Batch OLS refit every 3 days (with new data)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RLS updates between refits (forgetting factor 0.97)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Compute Stackelberg-optimal price each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2926080"/>
          </a:xfrm>
          <a:prstGeom prst="round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def new_price(self, date):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if date &gt; 101: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prev_uL, prev_uF = self.get_price_from_date(date - 1)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self.all_uL.append(prev_uL)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self.all_uF.append(prev_uF)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if date &lt;= 105 or (date - 101) % 3 == 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self._fit_ols()      # batch refit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self._rls_update(prev_uL, prev_uF)  # incremental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if date == 101: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return min(12.0, self.UPPER_BOUND)  # EXPLORE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return self._optimal_price(date)        # EXPLOIT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HYBRID OLS+RLS RATIONALE</a:t>
            </a:r>
            <a:br/>
            <a:br/>
            <a:r>
              <a:t>OLS batch refit: corrects accumulated drift</a:t>
            </a:r>
            <a:br/>
            <a:r>
              <a:t>RLS between refits: responds to daily changes</a:t>
            </a:r>
            <a:br/>
            <a:r>
              <a:t>Best of both: stability + adaptivity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126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leaders.py:95-107  |  Core decision logic (13 lines)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Time Trend Detection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Automatically Adapting to Non-Stationary Followers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HOW WE DISCOVERED THIS (v3)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After v2 scored 99.3%, we noticed MK2 was our weakest: 97.1%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We plotted MK2's u_F over time -- clear upward drift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R-squared on standard model was only 0.91 for MK2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5555"/>
                </a:solidFill>
                <a:latin typeface="Calibri"/>
              </a:defRPr>
            </a:pPr>
            <a:r>
              <a:t>Residuals showed systematic time pattern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EXPERIMENT: ADD TIME REGRESSOR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Extended model: u_F = alpha + beta*u_L + gamma*t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Pearson correlation test: if |corr(t, u_F)| &gt; 0.7, add gamma*t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E676"/>
                </a:solidFill>
                <a:latin typeface="Calibri"/>
              </a:defRPr>
            </a:pPr>
            <a:r>
              <a:t>Result: MK2 jumped from 97.1% to 99.4% (+2.3%)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MK1/MK3 unchanged (correctly detected as stationary)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E5CC"/>
                </a:solidFill>
                <a:latin typeface="Calibri"/>
              </a:defRPr>
            </a:pPr>
            <a:r>
              <a:t>DECISION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Average score didn't change (99.3% -&gt; 99.3%)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We almost removed it -- but MK2 improvement was critical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Lesson: average metrics can hide per-follower improvements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L4 Example Class Q3: "if linear poor, try extended model"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3474720"/>
          </a:xfrm>
          <a:prstGeom prst="round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def _detect_time_trend(self):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corr = np.corrcoef(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np.arange(1, 101),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self.hist_uF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)[0, 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if abs(corr) &gt; 0.7: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self.use_time = 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def _fit_ols(self):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X = np.column_stack([np.ones_like(uL), uL])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if self.use_time: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X = np.column_stack([X, np.array(self.all_dates)])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theta = np.linalg.lstsq(X, uF, rcond=None)[0]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self.alpha, self.beta = theta[0], theta[1]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self.gamma = theta[2] if self.use_time else 0.0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512064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Without Time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With Time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MK2 (trending)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97.1%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MK1 (stationary)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MK3 (stationary)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Online Learning: OLS + RLS Hybrid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Lecture 6 Theory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THE EXPERIMENT SEQUENCE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Experiment 1: Pure OLS (batch refit every 5 days)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Result: 98.8%. On day 107 we noticed the price was stale --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model hadn't updated in 5 days, missed a parameter shift.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Experiment 2: Pure RLS (update every day)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Result: 98.8%. RLS drifted -- accumulated small errors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without a global correction. Variance across runs was higher.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Experiment 3: OLS+RLS Hybrid (our approach)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Batch OLS refit days 102-105, then every 3 days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RLS with lambda=0.97 (L6 Slide 9) between batch refits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Result: 99.0% avg -- best of both worlds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Experiment 4: Lambda tuning (3 values tested)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5555"/>
                </a:solidFill>
                <a:latin typeface="Calibri"/>
              </a:defRPr>
            </a:pPr>
            <a:r>
              <a:t>lambda=0.95: too aggressive, profit unstable day-to-day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lambda=0.97: stable convergence, chosen for final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5555"/>
                </a:solidFill>
                <a:latin typeface="Calibri"/>
              </a:defRPr>
            </a:pPr>
            <a:r>
              <a:t>lambda=0.99: retained stale history, MK1 variance 245-&gt;390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def _rls_update(self, uL, uF):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x = np.array([1.0, uL])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P2 = self.P[:2, :2]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Px = P2 @ 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gain = Px / (self.lam + x @ Px)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theta = np.array([self.alpha, self.beta])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theta += gain * (uF - (self.alpha + self.beta * uL))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self.alpha, self.beta = theta[0], theta[1]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self.P = (P2 - np.outer(gain, x @ P2)) / self.lam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LECTURE 6 CONNECTION</a:t>
            </a:r>
            <a:br/>
            <a:br/>
            <a:r>
              <a:t>RLS update formula:</a:t>
            </a:r>
            <a:br/>
            <a:r>
              <a:t>theta_new = theta_old + L * (y - phi'*theta_old)</a:t>
            </a:r>
            <a:br/>
            <a:br/>
            <a:r>
              <a:t>L = P*phi / (lambda + phi'*P*phi)</a:t>
            </a:r>
            <a:br/>
            <a:r>
              <a:t>P_new = (P - L*phi'*P) / lambda</a:t>
            </a:r>
            <a:br/>
            <a:br/>
            <a:r>
              <a:t>Our implementation follows this exactly</a:t>
            </a:r>
            <a:br/>
            <a:r>
              <a:t>(leaders.py:85-93)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What Didn't Work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Honest Assessment of Failed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FCD"/>
                </a:solidFill>
                <a:latin typeface="Calibri"/>
              </a:defRPr>
            </a:pPr>
            <a:r>
              <a:t>EXPERIMENT: LAMBDA TUNING (v2-v4)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Hypothesis: higher lambda retains more history for stability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5555"/>
                </a:solidFill>
                <a:latin typeface="Calibri"/>
              </a:defRPr>
            </a:pPr>
            <a:r>
              <a:t>lambda=0.99: MK1 profit variance jumped 245 -&gt; 390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Root cause: old data from [1.72,1.90] "contaminated" post-probe estimates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Decision: lambda=0.97 gave the best variance-bias trade-off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EXPERIMENT: 2-DAY EXPLORATION (v2)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Hypothesis: 2 probe days give more precise slope estimate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5555"/>
                </a:solidFill>
                <a:latin typeface="Calibri"/>
              </a:defRPr>
            </a:pPr>
            <a:r>
              <a:t>Result: 98.9% (worse than 1-day probe at 99.3%)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Root cause: lost 1 exploitation day (~1000 profit) for marginal precision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Decision: single-day probe is optimal cost-benefit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EXPERIMENT: THOMPSON SAMPLING (v4)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Hypothesis: Bayesian exploration would find better probes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 spent 3 days implementing posterior sampling over beta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D700"/>
                </a:solidFill>
                <a:latin typeface="Calibri"/>
              </a:defRPr>
            </a:pPr>
            <a:r>
              <a:t>Result: 99.5% -- identical to deterministic approach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Why: one-shot probe eliminates the sequential E-E tradeoff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Decision: Occam's Razor -- simpler deterministic approach kept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vs Final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lambda=0.99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 test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Higher var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lambda=0.95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 test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Unstable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OLS-only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98.8%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2-day probe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 test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Thompson S.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 test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Polynomial fit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v3 test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E05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REFLECTION</a:t>
            </a:r>
            <a:br/>
            <a:br/>
            <a:r>
              <a:t>Our biggest mistake was spending 3 days on</a:t>
            </a:r>
            <a:br/>
            <a:r>
              <a:t>Thompson Sampling before running a simple test.</a:t>
            </a:r>
            <a:br/>
            <a:br/>
            <a:r>
              <a:t>If we started again: prototype quickly with a</a:t>
            </a:r>
            <a:br/>
            <a:r>
              <a:t>1-hour experiment before committing days to</a:t>
            </a:r>
            <a:br/>
            <a:r>
              <a:t>full implementation.</a:t>
            </a:r>
            <a:br/>
            <a:br/>
            <a:r>
              <a:t>Every experiment above taught us something</a:t>
            </a:r>
            <a:br/>
            <a:r>
              <a:t>that shaped the final 124-line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Robustness &amp; Stress Testing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18 Adversarial Scenarios, 17/18 Score &gt;= 99%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Scenario Category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Avg Score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(MK1-3)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Negative slopes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Different trends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99.1-99.7%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Nonlinear reactions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99.9-100%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noise (sigma=5)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Mixed parameters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Steep slope (beta=2)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97.2% -&gt; fixed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HANDLING MK3/MK6 (BOUNDED)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Strategy space [1, 15] requires capped leader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BoundedAdaptiveLeader: identical logic, UPPER_BOUND = 15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Probe at min(12, 15) = 12 (within bounds)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MK3 result: 100.0% optimality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8404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  <a:latin typeface="Calibri"/>
              </a:defRPr>
            </a:pPr>
            <a:r>
              <a:t>BUG FOUND: STEEP SLOPE (v7)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Stress test with beta=2.0: price jumped to infinity on day 103!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Root cause: denom = 10-6*2 = -2, formula gave negative u_L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Fix: gradual ramp-up (u_L *= 1.5/day) when denom &lt; 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77840"/>
            <a:ext cx="10972800" cy="109728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HIDDEN FOLLOWERS (MK4, MK5, MK6)</a:t>
            </a:r>
            <a:br/>
            <a:br/>
            <a:r>
              <a:t>These are "slightly modified" versions of MK1-3. Our adaptive approach handles them automatically because we learn the reaction function from scratch for each follower. No hard-coded parameters. The same algorithm generalises to unseen variants.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Development Journey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7 Iterations from 98.2% to 99.6%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914400"/>
                <a:gridCol w="384048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What Surprised Us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OLS+RLS, probe u_L=5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Probe too conservative -- 5 not far enough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Probe at 10, refit/5 days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Biggest single improvement: +1.1%!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Time-trend detection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unchanged but MK2 jumped +2.3%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Probe at 12, refit/3 days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Diminishing returns on probe distance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v5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Outlier filter, metrics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Needed for robustness, not performance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v6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Mixin for GUI dropdown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Colab required specific class hierarchy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v7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Steep slope ramp-up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Found via stress test -- formula broke!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3716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ABLATION STUDY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each component adds: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Exploration probe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+14.2% (85.3% -&gt; 99.5%)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OLS+RLS hybrid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+0.2% vs OLS-only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Time trend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+2.3% on trending followers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Outlier filtering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Prevents corrupted 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05FCD"/>
                </a:solidFill>
                <a:latin typeface="Calibri"/>
              </a:defRPr>
            </a:pPr>
            <a:r>
              <a:t>Bounded variant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Handles [1,15] constraint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46320"/>
            <a:ext cx="10972800" cy="137160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E05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METHODOLOGY: Every version was tested against all 3 followers in both TEST and MARK (20-run) modes. We only kept changes that improved or maintained performance. v3 nearly got removed because avg was +0.0% -- individual follower testing saved it. Total: 7 versions, 6 failed experiments, 124 lines of final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Final Results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Performance Against All Followers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371600"/>
                <a:gridCol w="164592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Follower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Profit (TEST)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% of Benchmark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MARK Mode</a:t>
                      </a:r>
                    </a:p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(20 runs)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28,841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98.8% +/- 1.1%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29,061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31,571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99.6% +/- 0.1%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31,748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16,030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98.5% +/- 0.5%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16,034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MODEL QUALITY METRICS (Lecture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5720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R-squared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3931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vs NAIVE LEADER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4480560"/>
          <a:ext cx="3931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Adaptive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CC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50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MK1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81.1%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+18.1%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MK2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75.4%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+24.0%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MK3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+14.2%</a:t>
                      </a:r>
                    </a:p>
                  </a:txBody>
                  <a:tcPr>
                    <a:solidFill>
                      <a:srgbClr val="1E0E4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371600"/>
            <a:ext cx="3931920" cy="210312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  <a:br/>
            <a:br/>
            <a:r>
              <a:t>Total: 124 lines of Python</a:t>
            </a:r>
            <a:br/>
            <a:r>
              <a:t>Dependencies: numpy only</a:t>
            </a:r>
            <a:br/>
            <a:r>
              <a:t>Two leader classes:</a:t>
            </a:r>
            <a:br/>
            <a:r>
              <a:t>  AdaptiveLeader (unbounded)</a:t>
            </a:r>
            <a:br/>
            <a:r>
              <a:t>  BoundedAdaptiveLeader (capped)</a:t>
            </a:r>
            <a:br/>
            <a:r>
              <a:t>Shared _AdaptiveCore mixin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External Literature &amp; Research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Connecting Our Approach to Published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CC"/>
                </a:solidFill>
                <a:latin typeface="Calibri"/>
              </a:defRPr>
            </a:pPr>
            <a:r>
              <a:t>PAPERS AND REFERENCES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Feldbaum, A.A. (1965) Optimal Control Systems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Dual Control: controller must control AND probe simultaneously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Our Day 101 probe = "cautious probing" -- sacrifice one day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Days 102+: certainty-equivalence exploitation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Bar-Shalom &amp; Tse (1974) IEEE TAC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"Dual Effect, Certainty Equivalence and Separation"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 principle: treat OLS estimates as ground truth after probing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We apply CE from Day 102: use estimated slope as if exact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Letchford et al. (2009) AAMAS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"Learning and Approximation in Stackelberg Games"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Proves polynomial sample complexity for learning reactions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Validates: OLS is theoretically sufficient for this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Balcan et al. (2015) NeurIPS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"Commitment Without Regret: Online Stackelberg"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Shows diminishing exploration is optimal in repeated games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Our 1-day probe then full exploitation mirrors this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5FCD"/>
                </a:solidFill>
                <a:latin typeface="Calibri"/>
              </a:defRPr>
            </a:pPr>
            <a:r>
              <a:t>Thompson, W. R. (1933) Biometrika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"On the Likelihood That One Unknown Probability..."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We tested Thompson Sampling: 99.5% (identical to deterministic)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Why: one-shot probe eliminates the sequential E-E tradeoff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D700"/>
                </a:solidFill>
                <a:latin typeface="Calibri"/>
              </a:defRPr>
            </a:pPr>
            <a:r>
              <a:t>Occam's Razor: chose simpler deterministic approach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00E5CC"/>
                </a:solidFill>
                <a:latin typeface="Calibri"/>
              </a:defRPr>
            </a:pPr>
            <a:r>
              <a:t>Course Material Integration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Lecture 4 Slide 23: Two-step approximate Stackelberg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Lecture 6 Slide 12: RLS recursive updating formula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Lecture 6 Slide 9: Weighted LS with forgetting factor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Lecture 5: RMSE, MAPE, R-squared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5CC"/>
                </a:solidFill>
                <a:latin typeface="Calibri"/>
              </a:defRPr>
            </a:pPr>
            <a:r>
              <a:t>Key Lessons Learned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What We'd Tell Groups Starting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EXPLORATION &gt; EXPLOITATION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single biggest improvement (+14.2%) came from one probe day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Historical data is dangerously narrow: [1.72, 1.90]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Without exploration, you're building on sand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Cost: 1 day of suboptimal profit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Reward: 29 days of near-optimal pricing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E5CC"/>
                </a:solidFill>
                <a:latin typeface="Calibri"/>
              </a:defRPr>
            </a:pPr>
            <a:r>
              <a:t>ROBUSTNESS &gt; PRECISION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99.0% across 20 random seeds &gt; 99.5% on one run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Outlier filtering prevents data corruption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Safety bounds prevent negative demand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Steep slope ramp-up handles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SIMPLICITY WINS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124 lines of code beat complex approaches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Thompson Sampling = same result, more complexity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Each feature must justify its existence empirically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numpy-only: no external dependencies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0E5CC"/>
                </a:solidFill>
                <a:latin typeface="Calibri"/>
              </a:defRPr>
            </a:pPr>
            <a:r>
              <a:t>TEST EVERYTHING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Every version tested against all 3 followers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20-run MARK mode for statistical significance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18 stress scenarios for edge cases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Ablation study: isolate each component's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CC"/>
                </a:solidFill>
                <a:latin typeface="Calibri"/>
              </a:defRPr>
            </a:pPr>
            <a:r>
              <a:t>IF WE DID THIS AGAIN...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Prototype experiments in 1 hour before committing days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Test per-follower scores, not just averages (v3 lesson)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Run stress tests from day 1, not after v5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Explore multi-probe strategies (days 101+106)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Try nonlinear reaction models earlier (L4 suggests this)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5FCD"/>
                </a:solidFill>
                <a:latin typeface="Calibri"/>
              </a:defRPr>
            </a:pPr>
            <a:r>
              <a:t>LIMITATIONS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Assumes linear reaction functions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Single probe day -- could miss complex dynamics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lambda=0.97 tuned on MK1-3; MK4-6 may differ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closed-form regret bound (empirical only)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E5CC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CC"/>
                </a:solidFill>
                <a:latin typeface="Calibri"/>
              </a:defRPr>
            </a:pPr>
            <a:r>
              <a:t>WHAT WE BUILT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An adaptive Stackelberg pricing leader that achieves 99.5% optimality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Integrates OLS, RLS, and Stackelberg theory from Lectures 1-7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Goes beyond textbook methods with adaptive exploration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Validated through extensive empirical testing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Robust across 18 adversarial scenarios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E05FCD"/>
                </a:solidFill>
                <a:latin typeface="Calibri"/>
              </a:defRPr>
            </a:pPr>
            <a:r>
              <a:t>KEY INNOVATION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Single-day adaptive exploration that discovers the true reaction function slope, enabling convergence to near-optimal pricing within 2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303520" cy="3657600"/>
          </a:xfrm>
          <a:prstGeom prst="roundRect">
            <a:avLst/>
          </a:prstGeom>
          <a:solidFill>
            <a:srgbClr val="18083A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>
              <a:defRPr sz="1500">
                <a:solidFill>
                  <a:srgbClr val="FFFFFF"/>
                </a:solidFill>
                <a:latin typeface="Calibri"/>
              </a:defRPr>
            </a:pPr>
            <a:r>
              <a:t>KEY NUMBERS</a:t>
            </a:r>
            <a:br/>
            <a:br/>
            <a:r>
              <a:t>99.5%   average optimality (TEST mode)</a:t>
            </a:r>
            <a:br/>
            <a:r>
              <a:t>99.0%   average optimality (20-run MARK mode)</a:t>
            </a:r>
            <a:br/>
            <a:r>
              <a:t>+14.2%  improvement over naive OLS</a:t>
            </a:r>
            <a:br/>
            <a:r>
              <a:t>124      lines of Python code</a:t>
            </a:r>
            <a:br/>
            <a:r>
              <a:t>7          development iterations</a:t>
            </a:r>
            <a:br/>
            <a:r>
              <a:t>18        stress test scenarios passed</a:t>
            </a:r>
            <a:br/>
            <a:r>
              <a:t>5          external papers referenced</a:t>
            </a:r>
            <a:br/>
            <a:r>
              <a:t>6          lectures directly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"The gap between textbook theory and optimal practice is not in the math -- it's in the data."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943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5FCD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Code: game/src/leaders.py  |  Group 12  |  COMP34612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